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23913320-493A-187F-E003-73EE2D2891FD}">
          <p14:sldIdLst>
            <p14:sldId id="256"/>
          </p14:sldIdLst>
        </p14:section>
        <p14:section name="Problem &amp; Objective" id="{CCF6C93F-41E4-2F54-4BB2-CFA7A4A80765}">
          <p14:sldIdLst>
            <p14:sldId id="257"/>
            <p14:sldId id="258"/>
          </p14:sldIdLst>
        </p14:section>
        <p14:section name="Business Understanding" id="{59A0B9FA-8280-5FA9-9B4C-E783554020B9}">
          <p14:sldIdLst>
            <p14:sldId id="259"/>
          </p14:sldIdLst>
        </p14:section>
        <p14:section name="Methodology" id="{42147391-00C7-9050-A541-E5D89E0C4EAD}">
          <p14:sldIdLst>
            <p14:sldId id="260"/>
            <p14:sldId id="261"/>
            <p14:sldId id="262"/>
            <p14:sldId id="263"/>
          </p14:sldIdLst>
        </p14:section>
        <p14:section name="Dashboard Development" id="{5ACAEB66-F4F6-5DD6-B595-99DACBBE74B5}">
          <p14:sldIdLst>
            <p14:sldId id="264"/>
            <p14:sldId id="265"/>
            <p14:sldId id="266"/>
            <p14:sldId id="267"/>
            <p14:sldId id="268"/>
          </p14:sldIdLst>
        </p14:section>
        <p14:section name="Key Findings" id="{BF003915-2680-D8D0-79B3-25C31E7AEFD5}">
          <p14:sldIdLst>
            <p14:sldId id="269"/>
            <p14:sldId id="270"/>
            <p14:sldId id="271"/>
            <p14:sldId id="272"/>
          </p14:sldIdLst>
        </p14:section>
        <p14:section name="Conclusion &amp; Future Scope" id="{B3C0EB2A-8AC3-4777-F3B5-62D210444680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374D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5374D"/>
                </a:solidFill>
                <a:latin typeface="+mn-lt"/>
              </a:rPr>
              <a:t>Total bottleneck days by stage (thousands)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Bottleneck days (K)</c:v>
                </c:pt>
              </c:strCache>
            </c:strRef>
          </c:tx>
          <c:spPr>
            <a:solidFill>
              <a:srgbClr val="F2B2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0EB-490F-9104-1C3B5D57B7F6}"/>
              </c:ext>
            </c:extLst>
          </c:dPt>
          <c:dPt>
            <c:idx val="1"/>
            <c:invertIfNegative val="0"/>
            <c:bubble3D val="0"/>
            <c:spPr>
              <a:solidFill>
                <a:srgbClr val="12A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0EB-490F-9104-1C3B5D57B7F6}"/>
              </c:ext>
            </c:extLst>
          </c:dPt>
          <c:dPt>
            <c:idx val="2"/>
            <c:invertIfNegative val="0"/>
            <c:bubble3D val="0"/>
            <c:spPr>
              <a:solidFill>
                <a:srgbClr val="12A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0EB-490F-9104-1C3B5D57B7F6}"/>
              </c:ext>
            </c:extLst>
          </c:dPt>
          <c:dPt>
            <c:idx val="3"/>
            <c:invertIfNegative val="0"/>
            <c:bubble3D val="0"/>
            <c:spPr>
              <a:solidFill>
                <a:srgbClr val="12A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0EB-490F-9104-1C3B5D57B7F6}"/>
              </c:ext>
            </c:extLst>
          </c:dPt>
          <c:dLbls>
            <c:numFmt formatCode="0.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Procurement</c:v>
                </c:pt>
                <c:pt idx="1">
                  <c:v>Transportation</c:v>
                </c:pt>
                <c:pt idx="2">
                  <c:v>Production</c:v>
                </c:pt>
                <c:pt idx="3">
                  <c:v>Warehouse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7.7</c:v>
                </c:pt>
                <c:pt idx="2">
                  <c:v>6.8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0EB-490F-9104-1C3B5D57B7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374D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5374D"/>
                </a:solidFill>
                <a:latin typeface="+mn-lt"/>
              </a:rPr>
              <a:t>Delay rate by road condition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</c:v>
                </c:pt>
              </c:strCache>
            </c:strRef>
          </c:tx>
          <c:spPr>
            <a:solidFill>
              <a:srgbClr val="F2B2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935-4161-A7B3-0B9CB3E6C078}"/>
              </c:ext>
            </c:extLst>
          </c:dPt>
          <c:dPt>
            <c:idx val="1"/>
            <c:invertIfNegative val="0"/>
            <c:bubble3D val="0"/>
            <c:spPr>
              <a:solidFill>
                <a:srgbClr val="12A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35-4161-A7B3-0B9CB3E6C078}"/>
              </c:ext>
            </c:extLst>
          </c:dPt>
          <c:dPt>
            <c:idx val="2"/>
            <c:invertIfNegative val="0"/>
            <c:bubble3D val="0"/>
            <c:spPr>
              <a:solidFill>
                <a:srgbClr val="12A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935-4161-A7B3-0B9CB3E6C078}"/>
              </c:ext>
            </c:extLst>
          </c:dPt>
          <c:dPt>
            <c:idx val="3"/>
            <c:invertIfNegative val="0"/>
            <c:bubble3D val="0"/>
            <c:spPr>
              <a:solidFill>
                <a:srgbClr val="12A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935-4161-A7B3-0B9CB3E6C07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Flooded</c:v>
                </c:pt>
                <c:pt idx="1">
                  <c:v>Poor</c:v>
                </c:pt>
                <c:pt idx="2">
                  <c:v>Normal</c:v>
                </c:pt>
                <c:pt idx="3">
                  <c:v>Wet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75.900000000000006</c:v>
                </c:pt>
                <c:pt idx="1">
                  <c:v>60.8</c:v>
                </c:pt>
                <c:pt idx="2">
                  <c:v>51.8</c:v>
                </c:pt>
                <c:pt idx="3">
                  <c:v>50.3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935-4161-A7B3-0B9CB3E6C0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374D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5374D"/>
                </a:solidFill>
                <a:latin typeface="+mn-lt"/>
              </a:rPr>
              <a:t>Delay rate by stockout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</c:v>
                </c:pt>
              </c:strCache>
            </c:strRef>
          </c:tx>
          <c:spPr>
            <a:solidFill>
              <a:srgbClr val="12A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639-4971-B798-2AC82A99BB41}"/>
              </c:ext>
            </c:extLst>
          </c:dPt>
          <c:dPt>
            <c:idx val="1"/>
            <c:invertIfNegative val="0"/>
            <c:bubble3D val="0"/>
            <c:spPr>
              <a:solidFill>
                <a:srgbClr val="F2B2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39-4971-B798-2AC82A99BB4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stockout</c:v>
                </c:pt>
                <c:pt idx="1">
                  <c:v>Stockout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</c:v>
                </c:pt>
                <c:pt idx="1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39-4971-B798-2AC82A99BB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017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end-to-end supply chain delay analysis for a fictional Indian e-commerce company, Nexora, delivered as a seven-page Power BI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gaps in today's reporting. Together they mean delays are found reactively. The core need is one unified, drillable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specific objectives roll up into one primary objective. The six business questions map each to a dashboard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framing. Symptoms: late deliveries, repeat-offender suppliers and regions, delays at different stages, and static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phase hands an output to the next. Cleaning is fully scripted and reproducible in a Jupyter notebook; raw files are never modified.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 tables were clean; the fact table deliberately had realistic problems so cleaning reflects real analytical work. Data covers 5 Jan 2025 to 17 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step is scripted in a nine-step Jupyter notebook. Bottleneck split: Procurement 70.3%, Transportation 15.0%, Production 13.3%, Warehouse 1.4%. Undelivered value is about Rs 4.57 crore, 4.3% of Rs 107.1 crore total order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 table plus four dimensions plus a DateTable. Central measures keep one definition of every KPI across all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Design: navy and teal base, amber accent highlights the leading contributor in each chart. Each page has a KPI strip, a filter strip and two to four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Landing page answers: how are we doing? 6.1K orders, 3.6K delayed (60.2%), 1.9 days average delay, 95.2% fulfilment.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page: purpose, the key visual, and what it reveals.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page: purpose, the key visual, and what it reveals.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page: purpose, the key visual, and what it reveals.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Delayed orders by severity: 3,271 minor + 452 moderate + 12 severe = 3,735. Stockout difference is 86% vs 56%.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complementary views: recorded delay reasons put traffic congestion first (1.4K), then weather (0.8K), supplier delay (0.7K), stockout (0.6K). Time by stage puts procurement first. External events trigger visible delays; long procurement consumes the buffer that would absorb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Flooded roads add about 24 points to the delay rate. Stockouts add about 30 points. External risk events are limited in volume: 1.7K weather-risk orders, 192 road closures, 161 accident-affected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Ordered by expected impact: procurement carries 73% of bottleneck days; stockouts add about 30 points to the delay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approach can be applied to live organisational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of these reuse fields already engineered in the model, such as Undelivered_Order_Value.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rgbClr val="15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53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Supply Chain Delay Analysis  |  Nexora Supply Chain Intelligence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Supply Chain Delay Analysis  |  Nexora Supply Chain Intelligence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xora logo" descr="Nexora Supply Chain Intelligenc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325880" cy="9784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5"/>
                </a:solidFill>
              </a:rPr>
              <a:t>PROJECT PRESENTATION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288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Delay Analysis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An Interactive Power BI Dashboard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Prepared by  </a:t>
            </a:r>
            <a:r>
              <a:rPr lang="en-US" sz="1200" b="1" dirty="0">
                <a:solidFill>
                  <a:schemeClr val="bg1"/>
                </a:solidFill>
              </a:rPr>
              <a:t>Divyaa Shri B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Company (fictional)  </a:t>
            </a:r>
            <a:r>
              <a:rPr lang="en-US" sz="1200" dirty="0">
                <a:solidFill>
                  <a:schemeClr val="bg1"/>
                </a:solidFill>
              </a:rPr>
              <a:t>Nexora Supply Chain Intelligence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Institute  </a:t>
            </a:r>
            <a:r>
              <a:rPr lang="en-US" sz="1200" dirty="0">
                <a:solidFill>
                  <a:schemeClr val="bg1"/>
                </a:solidFill>
              </a:rPr>
              <a:t>NoviTech R&amp;D Pvt Ltd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October 2026</a:t>
            </a:r>
            <a:endParaRPr lang="en-US" sz="1200" dirty="0"/>
          </a:p>
        </p:txBody>
      </p:sp>
      <p:sp>
        <p:nvSpPr>
          <p:cNvPr id="7" name="Executive Overview dashboard page frame"/>
          <p:cNvSpPr/>
          <p:nvPr/>
        </p:nvSpPr>
        <p:spPr>
          <a:xfrm>
            <a:off x="5449824" y="1563624"/>
            <a:ext cx="3364992" cy="1918066"/>
          </a:xfrm>
          <a:prstGeom prst="rect">
            <a:avLst/>
          </a:prstGeom>
          <a:solidFill>
            <a:srgbClr val="FFFFFF"/>
          </a:solidFill>
          <a:ln w="9525">
            <a:solidFill>
              <a:srgbClr val="CBD7DD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Executive Overview dashboard page" descr="Executive Overview dashboard page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600200"/>
            <a:ext cx="3291840" cy="184491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Power BI  ·  Python  ·  DAX  ·  Excel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tx1"/>
                </a:solidFill>
              </a:rPr>
              <a:t>Customers are promised delivery dates, yet teams cannot see where or why orders slip.</a:t>
            </a:r>
            <a:endParaRPr lang="en-US" sz="1500" dirty="0"/>
          </a:p>
        </p:txBody>
      </p:sp>
      <p:sp>
        <p:nvSpPr>
          <p:cNvPr id="4" name="problem card 1"/>
          <p:cNvSpPr/>
          <p:nvPr/>
        </p:nvSpPr>
        <p:spPr>
          <a:xfrm>
            <a:off x="457200" y="1417320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problem 1 circle"/>
          <p:cNvSpPr/>
          <p:nvPr/>
        </p:nvSpPr>
        <p:spPr>
          <a:xfrm>
            <a:off x="566928" y="1508760"/>
            <a:ext cx="384048" cy="384048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problem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60477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144475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Fragmented data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Order, inventory, transport and vendor data sit in separate systems.</a:t>
            </a:r>
            <a:endParaRPr lang="en-US" sz="1300" dirty="0"/>
          </a:p>
        </p:txBody>
      </p:sp>
      <p:sp>
        <p:nvSpPr>
          <p:cNvPr id="8" name="problem card 2"/>
          <p:cNvSpPr/>
          <p:nvPr/>
        </p:nvSpPr>
        <p:spPr>
          <a:xfrm>
            <a:off x="457200" y="2075688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problem 2 circle"/>
          <p:cNvSpPr/>
          <p:nvPr/>
        </p:nvSpPr>
        <p:spPr>
          <a:xfrm>
            <a:off x="566928" y="2167128"/>
            <a:ext cx="384048" cy="384048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problem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2263140"/>
            <a:ext cx="192024" cy="192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78992" y="210312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Limited visibility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Static, delayed reports give no view of how performance changes.</a:t>
            </a:r>
            <a:endParaRPr lang="en-US" sz="1300" dirty="0"/>
          </a:p>
        </p:txBody>
      </p:sp>
      <p:sp>
        <p:nvSpPr>
          <p:cNvPr id="12" name="problem card 3"/>
          <p:cNvSpPr/>
          <p:nvPr/>
        </p:nvSpPr>
        <p:spPr>
          <a:xfrm>
            <a:off x="457200" y="2734056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problem 3 circle"/>
          <p:cNvSpPr/>
          <p:nvPr/>
        </p:nvSpPr>
        <p:spPr>
          <a:xfrm>
            <a:off x="566928" y="2825496"/>
            <a:ext cx="384048" cy="384048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problem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2921508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78992" y="27614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Unclear root causes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Supplier, transport, warehouse and demand delays are hard to separate.</a:t>
            </a:r>
            <a:endParaRPr lang="en-US" sz="1300" dirty="0"/>
          </a:p>
        </p:txBody>
      </p:sp>
      <p:sp>
        <p:nvSpPr>
          <p:cNvPr id="16" name="problem card 4"/>
          <p:cNvSpPr/>
          <p:nvPr/>
        </p:nvSpPr>
        <p:spPr>
          <a:xfrm>
            <a:off x="457200" y="3392424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problem 4 circle"/>
          <p:cNvSpPr/>
          <p:nvPr/>
        </p:nvSpPr>
        <p:spPr>
          <a:xfrm>
            <a:off x="566928" y="3483864"/>
            <a:ext cx="384048" cy="384048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problem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" y="3579876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78992" y="341985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 multi-angle analysis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Delays cannot be cut by region, supplier, category or period.</a:t>
            </a:r>
            <a:endParaRPr lang="en-US" sz="1300" dirty="0"/>
          </a:p>
        </p:txBody>
      </p:sp>
      <p:sp>
        <p:nvSpPr>
          <p:cNvPr id="20" name="problem card 5"/>
          <p:cNvSpPr/>
          <p:nvPr/>
        </p:nvSpPr>
        <p:spPr>
          <a:xfrm>
            <a:off x="457200" y="4050792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problem 5 circle"/>
          <p:cNvSpPr/>
          <p:nvPr/>
        </p:nvSpPr>
        <p:spPr>
          <a:xfrm>
            <a:off x="566928" y="4142232"/>
            <a:ext cx="384048" cy="384048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problem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" y="4238244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78992" y="407822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Reactive decisions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Problems surface only after the customer is affected.</a:t>
            </a:r>
            <a:endParaRPr lang="en-US" sz="1300" dirty="0"/>
          </a:p>
        </p:txBody>
      </p:sp>
      <p:sp>
        <p:nvSpPr>
          <p:cNvPr id="24" name="core need panel"/>
          <p:cNvSpPr/>
          <p:nvPr/>
        </p:nvSpPr>
        <p:spPr>
          <a:xfrm>
            <a:off x="5989320" y="1417320"/>
            <a:ext cx="2697480" cy="3200400"/>
          </a:xfrm>
          <a:prstGeom prst="roundRect">
            <a:avLst>
              <a:gd name="adj" fmla="val 27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8"/>
          <p:cNvSpPr txBox="1"/>
          <p:nvPr/>
        </p:nvSpPr>
        <p:spPr>
          <a:xfrm>
            <a:off x="62179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CORE NEED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217920" y="19202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 unified, interactive analytical solution that consolidates supply chain data, pinpoints where and why delays occur, and lets stakeholders drill from an executive view to individual orders.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Objective</a:t>
            </a:r>
            <a:endParaRPr lang="en-US" sz="2800" dirty="0"/>
          </a:p>
        </p:txBody>
      </p:sp>
      <p:sp>
        <p:nvSpPr>
          <p:cNvPr id="3" name="primary objective panel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objective circle"/>
          <p:cNvSpPr/>
          <p:nvPr/>
        </p:nvSpPr>
        <p:spPr>
          <a:xfrm>
            <a:off x="685800" y="1234440"/>
            <a:ext cx="594360" cy="594360"/>
          </a:xfrm>
          <a:prstGeom prst="ellipse">
            <a:avLst/>
          </a:prstGeom>
          <a:solidFill>
            <a:srgbClr val="F2B24A"/>
          </a:solidFill>
          <a:ln w="12700">
            <a:solidFill>
              <a:srgbClr val="F2B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objectiv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3830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05156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Primary objective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Build an interactive Power BI dashboard on a unified data model that gives clear visibility into delivery performance, so the organisation can find bottlenecks, cut delays and improve customer satisfaction.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Business questions the dashboard answers</a:t>
            </a:r>
            <a:endParaRPr lang="en-US" sz="1600" dirty="0"/>
          </a:p>
        </p:txBody>
      </p:sp>
      <p:sp>
        <p:nvSpPr>
          <p:cNvPr id="8" name="question card 1"/>
          <p:cNvSpPr/>
          <p:nvPr/>
        </p:nvSpPr>
        <p:spPr>
          <a:xfrm>
            <a:off x="457200" y="26517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question 1 circle"/>
          <p:cNvSpPr/>
          <p:nvPr/>
        </p:nvSpPr>
        <p:spPr>
          <a:xfrm>
            <a:off x="566928" y="2779776"/>
            <a:ext cx="365760" cy="36576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question 1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871216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24128" y="2724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How many orders are delayed, and how severe?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3255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Page: Executive Overview, Delay Analysis</a:t>
            </a:r>
            <a:endParaRPr lang="en-US" sz="1000" dirty="0"/>
          </a:p>
        </p:txBody>
      </p:sp>
      <p:sp>
        <p:nvSpPr>
          <p:cNvPr id="13" name="question card 2"/>
          <p:cNvSpPr/>
          <p:nvPr/>
        </p:nvSpPr>
        <p:spPr>
          <a:xfrm>
            <a:off x="3246120" y="26517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question 2 circle"/>
          <p:cNvSpPr/>
          <p:nvPr/>
        </p:nvSpPr>
        <p:spPr>
          <a:xfrm>
            <a:off x="3355848" y="2779776"/>
            <a:ext cx="365760" cy="36576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question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2871216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13048" y="2724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Which supply chain stage causes the most delay?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355848" y="3255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Page: Bottleneck Analysis</a:t>
            </a:r>
            <a:endParaRPr lang="en-US" sz="1000" dirty="0"/>
          </a:p>
        </p:txBody>
      </p:sp>
      <p:sp>
        <p:nvSpPr>
          <p:cNvPr id="18" name="question card 3"/>
          <p:cNvSpPr/>
          <p:nvPr/>
        </p:nvSpPr>
        <p:spPr>
          <a:xfrm>
            <a:off x="6035040" y="26517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question 3 circle"/>
          <p:cNvSpPr/>
          <p:nvPr/>
        </p:nvSpPr>
        <p:spPr>
          <a:xfrm>
            <a:off x="6144768" y="2779776"/>
            <a:ext cx="365760" cy="36576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question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2871216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01968" y="2724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Which suppliers and regions contribute most?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144768" y="3255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Page: Supplier &amp; Procurement, Delay Analysis</a:t>
            </a:r>
            <a:endParaRPr lang="en-US" sz="1000" dirty="0"/>
          </a:p>
        </p:txBody>
      </p:sp>
      <p:sp>
        <p:nvSpPr>
          <p:cNvPr id="23" name="question card 4"/>
          <p:cNvSpPr/>
          <p:nvPr/>
        </p:nvSpPr>
        <p:spPr>
          <a:xfrm>
            <a:off x="457200" y="36576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question 4 circle"/>
          <p:cNvSpPr/>
          <p:nvPr/>
        </p:nvSpPr>
        <p:spPr>
          <a:xfrm>
            <a:off x="566928" y="3785616"/>
            <a:ext cx="365760" cy="36576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question 4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877056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24128" y="37307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How do weather, traffic and roads affect delivery?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566928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Page: Logistics &amp; Risk Analysis</a:t>
            </a:r>
            <a:endParaRPr lang="en-US" sz="1000" dirty="0"/>
          </a:p>
        </p:txBody>
      </p:sp>
      <p:sp>
        <p:nvSpPr>
          <p:cNvPr id="28" name="question card 5"/>
          <p:cNvSpPr/>
          <p:nvPr/>
        </p:nvSpPr>
        <p:spPr>
          <a:xfrm>
            <a:off x="3246120" y="36576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question 5 circle"/>
          <p:cNvSpPr/>
          <p:nvPr/>
        </p:nvSpPr>
        <p:spPr>
          <a:xfrm>
            <a:off x="3355848" y="3785616"/>
            <a:ext cx="365760" cy="36576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question 5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7288" y="3877056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813048" y="37307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 stockouts and inventory affect performance?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3355848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Page: Inventory &amp; Fulfillment</a:t>
            </a:r>
            <a:endParaRPr lang="en-US" sz="1000" dirty="0"/>
          </a:p>
        </p:txBody>
      </p:sp>
      <p:sp>
        <p:nvSpPr>
          <p:cNvPr id="33" name="question card 6"/>
          <p:cNvSpPr/>
          <p:nvPr/>
        </p:nvSpPr>
        <p:spPr>
          <a:xfrm>
            <a:off x="6035040" y="36576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question 6 circle"/>
          <p:cNvSpPr/>
          <p:nvPr/>
        </p:nvSpPr>
        <p:spPr>
          <a:xfrm>
            <a:off x="6144768" y="3785616"/>
            <a:ext cx="365760" cy="36576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question 6 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3877056"/>
            <a:ext cx="182880" cy="18288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601968" y="37307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Which individual orders need attention?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6144768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Page: Order Details</a:t>
            </a:r>
            <a:endParaRPr lang="en-US" sz="1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38912" y="116349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Business understanding</a:t>
            </a:r>
            <a:endParaRPr lang="en-US" sz="2800" dirty="0"/>
          </a:p>
        </p:txBody>
      </p:sp>
      <p:sp>
        <p:nvSpPr>
          <p:cNvPr id="3" name="business tile 1"/>
          <p:cNvSpPr/>
          <p:nvPr/>
        </p:nvSpPr>
        <p:spPr>
          <a:xfrm>
            <a:off x="457200" y="876563"/>
            <a:ext cx="1554480" cy="11887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business 1 circle"/>
          <p:cNvSpPr/>
          <p:nvPr/>
        </p:nvSpPr>
        <p:spPr>
          <a:xfrm>
            <a:off x="1042416" y="986291"/>
            <a:ext cx="384048" cy="384048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business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" y="1082303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457206"/>
            <a:ext cx="1463040" cy="157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3"/>
                </a:solidFill>
              </a:rPr>
              <a:t>DOMAIN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659294"/>
            <a:ext cx="1371600" cy="3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Supply Chain &amp; Logistics</a:t>
            </a:r>
            <a:endParaRPr lang="en-US" sz="1200" dirty="0"/>
          </a:p>
        </p:txBody>
      </p:sp>
      <p:sp>
        <p:nvSpPr>
          <p:cNvPr id="8" name="business tile 2"/>
          <p:cNvSpPr/>
          <p:nvPr/>
        </p:nvSpPr>
        <p:spPr>
          <a:xfrm>
            <a:off x="2121408" y="876563"/>
            <a:ext cx="1554480" cy="122918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business 2 circle"/>
          <p:cNvSpPr/>
          <p:nvPr/>
        </p:nvSpPr>
        <p:spPr>
          <a:xfrm>
            <a:off x="2706624" y="986291"/>
            <a:ext cx="384048" cy="384048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business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636" y="1082303"/>
            <a:ext cx="192024" cy="192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67128" y="141605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3"/>
                </a:solidFill>
              </a:rPr>
              <a:t>SECTOR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2212848" y="1644659"/>
            <a:ext cx="1371600" cy="433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13" name="business tile 3"/>
          <p:cNvSpPr/>
          <p:nvPr/>
        </p:nvSpPr>
        <p:spPr>
          <a:xfrm>
            <a:off x="3785616" y="876563"/>
            <a:ext cx="1554480" cy="122918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business 3 circle"/>
          <p:cNvSpPr/>
          <p:nvPr/>
        </p:nvSpPr>
        <p:spPr>
          <a:xfrm>
            <a:off x="4370832" y="986291"/>
            <a:ext cx="384048" cy="384048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business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1082303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31336" y="141605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3"/>
                </a:solidFill>
              </a:rPr>
              <a:t>BUSINESS TYPE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3877056" y="1644659"/>
            <a:ext cx="1371600" cy="433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Product-based organisation</a:t>
            </a:r>
            <a:endParaRPr lang="en-US" sz="1200" dirty="0"/>
          </a:p>
        </p:txBody>
      </p:sp>
      <p:sp>
        <p:nvSpPr>
          <p:cNvPr id="18" name="business tile 4"/>
          <p:cNvSpPr/>
          <p:nvPr/>
        </p:nvSpPr>
        <p:spPr>
          <a:xfrm>
            <a:off x="5449824" y="876563"/>
            <a:ext cx="1554480" cy="122918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business 4 circle"/>
          <p:cNvSpPr/>
          <p:nvPr/>
        </p:nvSpPr>
        <p:spPr>
          <a:xfrm>
            <a:off x="6035040" y="986291"/>
            <a:ext cx="384048" cy="384048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business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1052" y="1082303"/>
            <a:ext cx="192024" cy="1920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5544" y="141605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3"/>
                </a:solidFill>
              </a:rPr>
              <a:t>PRIMARY FOCUS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5495544" y="1644659"/>
            <a:ext cx="1463040" cy="433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Operational efficiency &amp; inventory</a:t>
            </a:r>
            <a:endParaRPr lang="en-US" sz="1200" dirty="0"/>
          </a:p>
        </p:txBody>
      </p:sp>
      <p:sp>
        <p:nvSpPr>
          <p:cNvPr id="23" name="business tile 5"/>
          <p:cNvSpPr/>
          <p:nvPr/>
        </p:nvSpPr>
        <p:spPr>
          <a:xfrm>
            <a:off x="7114032" y="876563"/>
            <a:ext cx="1554480" cy="122918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business 5 circle"/>
          <p:cNvSpPr/>
          <p:nvPr/>
        </p:nvSpPr>
        <p:spPr>
          <a:xfrm>
            <a:off x="7699248" y="986291"/>
            <a:ext cx="384048" cy="384048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business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5260" y="1082303"/>
            <a:ext cx="192024" cy="1920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59752" y="141605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accent3"/>
                </a:solidFill>
              </a:rPr>
              <a:t>FUNCTION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7159752" y="1644659"/>
            <a:ext cx="1463040" cy="433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Procurement, warehousing, logistics</a:t>
            </a:r>
            <a:endParaRPr lang="en-US" sz="1200" dirty="0"/>
          </a:p>
        </p:txBody>
      </p:sp>
      <p:sp>
        <p:nvSpPr>
          <p:cNvPr id="28" name="business problem box"/>
          <p:cNvSpPr/>
          <p:nvPr/>
        </p:nvSpPr>
        <p:spPr>
          <a:xfrm>
            <a:off x="457200" y="3020502"/>
            <a:ext cx="4023360" cy="865697"/>
          </a:xfrm>
          <a:prstGeom prst="roundRect">
            <a:avLst>
              <a:gd name="adj" fmla="val 6154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 txBox="1"/>
          <p:nvPr/>
        </p:nvSpPr>
        <p:spPr>
          <a:xfrm>
            <a:off x="465712" y="3044964"/>
            <a:ext cx="4014848" cy="79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Business problem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Supply chain delays are hurting delivery performance and customer satisfaction. Late products, declining performance and a few suppliers or regions that keep slipping.</a:t>
            </a:r>
            <a:endParaRPr lang="en-US" sz="1300" dirty="0"/>
          </a:p>
        </p:txBody>
      </p:sp>
      <p:sp>
        <p:nvSpPr>
          <p:cNvPr id="30" name="analytical problem box"/>
          <p:cNvSpPr/>
          <p:nvPr/>
        </p:nvSpPr>
        <p:spPr>
          <a:xfrm>
            <a:off x="4663440" y="3029166"/>
            <a:ext cx="4023360" cy="857033"/>
          </a:xfrm>
          <a:prstGeom prst="roundRect">
            <a:avLst>
              <a:gd name="adj" fmla="val 6154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4"/>
          <p:cNvSpPr txBox="1"/>
          <p:nvPr/>
        </p:nvSpPr>
        <p:spPr>
          <a:xfrm>
            <a:off x="4663440" y="3044964"/>
            <a:ext cx="4014848" cy="795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Analytical problem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 clear view of where and why delays occur, so bottlenecks are hard to find and corrective action comes late.</a:t>
            </a:r>
            <a:endParaRPr lang="en-US" sz="1300" dirty="0"/>
          </a:p>
        </p:txBody>
      </p:sp>
      <p:sp>
        <p:nvSpPr>
          <p:cNvPr id="32" name="business objective strip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6"/>
          <p:cNvSpPr txBox="1"/>
          <p:nvPr/>
        </p:nvSpPr>
        <p:spPr>
          <a:xfrm>
            <a:off x="685800" y="4069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Business objective  </a:t>
            </a:r>
            <a:r>
              <a:rPr lang="en-US" sz="1300" dirty="0">
                <a:solidFill>
                  <a:schemeClr val="bg1"/>
                </a:solidFill>
              </a:rPr>
              <a:t>Identify delay patterns and bottlenecks, understand their likely causes, and support timely corrective action.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46" name="Rounded Rectangle 24">
            <a:extLst>
              <a:ext uri="{FF2B5EF4-FFF2-40B4-BE49-F238E27FC236}">
                <a16:creationId xmlns:a16="http://schemas.microsoft.com/office/drawing/2014/main" id="{C83AD4DD-134D-6DA5-4DF4-7B25083A7E72}"/>
              </a:ext>
            </a:extLst>
          </p:cNvPr>
          <p:cNvSpPr/>
          <p:nvPr/>
        </p:nvSpPr>
        <p:spPr>
          <a:xfrm>
            <a:off x="465712" y="2455721"/>
            <a:ext cx="1444754" cy="344844"/>
          </a:xfrm>
          <a:prstGeom prst="roundRect">
            <a:avLst>
              <a:gd name="adj" fmla="val 12000"/>
            </a:avLst>
          </a:prstGeom>
          <a:solidFill>
            <a:srgbClr val="103042"/>
          </a:solidFill>
          <a:ln>
            <a:solidFill>
              <a:srgbClr val="10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1263FC-2BA6-4DB4-0E83-85F4A5CB6989}"/>
              </a:ext>
            </a:extLst>
          </p:cNvPr>
          <p:cNvSpPr txBox="1"/>
          <p:nvPr/>
        </p:nvSpPr>
        <p:spPr>
          <a:xfrm>
            <a:off x="502919" y="2499622"/>
            <a:ext cx="320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dirty="0">
                <a:solidFill>
                  <a:srgbClr val="F4B942"/>
                </a:solidFill>
                <a:latin typeface="Aptos"/>
              </a:rPr>
              <a:t>01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BEBCC9-F36A-5023-0FEA-B3EB19980A98}"/>
              </a:ext>
            </a:extLst>
          </p:cNvPr>
          <p:cNvSpPr txBox="1"/>
          <p:nvPr/>
        </p:nvSpPr>
        <p:spPr>
          <a:xfrm>
            <a:off x="813815" y="2481347"/>
            <a:ext cx="100584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Procurement</a:t>
            </a:r>
          </a:p>
        </p:txBody>
      </p:sp>
      <p:sp>
        <p:nvSpPr>
          <p:cNvPr id="52" name="Rounded Rectangle 28">
            <a:extLst>
              <a:ext uri="{FF2B5EF4-FFF2-40B4-BE49-F238E27FC236}">
                <a16:creationId xmlns:a16="http://schemas.microsoft.com/office/drawing/2014/main" id="{9C122FAE-88A5-AF2B-575A-B00236F38F68}"/>
              </a:ext>
            </a:extLst>
          </p:cNvPr>
          <p:cNvSpPr/>
          <p:nvPr/>
        </p:nvSpPr>
        <p:spPr>
          <a:xfrm>
            <a:off x="2185311" y="2469510"/>
            <a:ext cx="1316738" cy="331056"/>
          </a:xfrm>
          <a:prstGeom prst="roundRect">
            <a:avLst>
              <a:gd name="adj" fmla="val 12000"/>
            </a:avLst>
          </a:prstGeom>
          <a:solidFill>
            <a:srgbClr val="103042"/>
          </a:solidFill>
          <a:ln>
            <a:solidFill>
              <a:srgbClr val="10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48A36B-E417-A44B-2C60-E34F3C3B477F}"/>
              </a:ext>
            </a:extLst>
          </p:cNvPr>
          <p:cNvSpPr txBox="1"/>
          <p:nvPr/>
        </p:nvSpPr>
        <p:spPr>
          <a:xfrm>
            <a:off x="2253208" y="2510029"/>
            <a:ext cx="320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dirty="0">
                <a:solidFill>
                  <a:srgbClr val="F4B942"/>
                </a:solidFill>
                <a:latin typeface="Aptos"/>
              </a:rPr>
              <a:t>02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9F2445-7ABC-27F5-4F6D-C356716931C7}"/>
              </a:ext>
            </a:extLst>
          </p:cNvPr>
          <p:cNvSpPr txBox="1"/>
          <p:nvPr/>
        </p:nvSpPr>
        <p:spPr>
          <a:xfrm>
            <a:off x="2532784" y="2488280"/>
            <a:ext cx="940677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Production</a:t>
            </a:r>
          </a:p>
        </p:txBody>
      </p:sp>
      <p:sp>
        <p:nvSpPr>
          <p:cNvPr id="58" name="Rounded Rectangle 32">
            <a:extLst>
              <a:ext uri="{FF2B5EF4-FFF2-40B4-BE49-F238E27FC236}">
                <a16:creationId xmlns:a16="http://schemas.microsoft.com/office/drawing/2014/main" id="{D8173337-5694-463D-E1D5-87790E8D6992}"/>
              </a:ext>
            </a:extLst>
          </p:cNvPr>
          <p:cNvSpPr/>
          <p:nvPr/>
        </p:nvSpPr>
        <p:spPr>
          <a:xfrm>
            <a:off x="3772710" y="2481347"/>
            <a:ext cx="1325880" cy="319220"/>
          </a:xfrm>
          <a:prstGeom prst="roundRect">
            <a:avLst>
              <a:gd name="adj" fmla="val 12000"/>
            </a:avLst>
          </a:prstGeom>
          <a:solidFill>
            <a:srgbClr val="103042"/>
          </a:solidFill>
          <a:ln>
            <a:solidFill>
              <a:srgbClr val="10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7D642CF-CB94-4E77-CA18-117D46CDF908}"/>
              </a:ext>
            </a:extLst>
          </p:cNvPr>
          <p:cNvSpPr txBox="1"/>
          <p:nvPr/>
        </p:nvSpPr>
        <p:spPr>
          <a:xfrm>
            <a:off x="3822373" y="2510029"/>
            <a:ext cx="320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dirty="0">
                <a:solidFill>
                  <a:srgbClr val="F4B942"/>
                </a:solidFill>
                <a:latin typeface="Aptos"/>
              </a:rPr>
              <a:t>03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AA369D-DFEE-AA08-1612-D624D6D77D7B}"/>
              </a:ext>
            </a:extLst>
          </p:cNvPr>
          <p:cNvSpPr txBox="1"/>
          <p:nvPr/>
        </p:nvSpPr>
        <p:spPr>
          <a:xfrm>
            <a:off x="4142413" y="2489796"/>
            <a:ext cx="896742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Warehouse</a:t>
            </a:r>
          </a:p>
        </p:txBody>
      </p:sp>
      <p:sp>
        <p:nvSpPr>
          <p:cNvPr id="64" name="Rounded Rectangle 36">
            <a:extLst>
              <a:ext uri="{FF2B5EF4-FFF2-40B4-BE49-F238E27FC236}">
                <a16:creationId xmlns:a16="http://schemas.microsoft.com/office/drawing/2014/main" id="{422A2F91-10E9-FFCD-0FEA-BAAF3226C8A5}"/>
              </a:ext>
            </a:extLst>
          </p:cNvPr>
          <p:cNvSpPr/>
          <p:nvPr/>
        </p:nvSpPr>
        <p:spPr>
          <a:xfrm>
            <a:off x="5370534" y="2455721"/>
            <a:ext cx="1526416" cy="344971"/>
          </a:xfrm>
          <a:prstGeom prst="roundRect">
            <a:avLst>
              <a:gd name="adj" fmla="val 12000"/>
            </a:avLst>
          </a:prstGeom>
          <a:solidFill>
            <a:srgbClr val="103042"/>
          </a:solidFill>
          <a:ln>
            <a:solidFill>
              <a:srgbClr val="103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3E8FE3-56A1-6DFF-CB6A-02D7A9D4499F}"/>
              </a:ext>
            </a:extLst>
          </p:cNvPr>
          <p:cNvSpPr txBox="1"/>
          <p:nvPr/>
        </p:nvSpPr>
        <p:spPr>
          <a:xfrm>
            <a:off x="5420141" y="2510029"/>
            <a:ext cx="320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dirty="0">
                <a:solidFill>
                  <a:srgbClr val="F4B942"/>
                </a:solidFill>
                <a:latin typeface="Aptos"/>
              </a:rPr>
              <a:t>04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13F753-01D1-C4AB-6E4B-9D2730335AA2}"/>
              </a:ext>
            </a:extLst>
          </p:cNvPr>
          <p:cNvSpPr txBox="1"/>
          <p:nvPr/>
        </p:nvSpPr>
        <p:spPr>
          <a:xfrm>
            <a:off x="5662510" y="2489796"/>
            <a:ext cx="13258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Transportation</a:t>
            </a:r>
          </a:p>
        </p:txBody>
      </p:sp>
      <p:sp>
        <p:nvSpPr>
          <p:cNvPr id="70" name="Rounded Rectangle 40">
            <a:extLst>
              <a:ext uri="{FF2B5EF4-FFF2-40B4-BE49-F238E27FC236}">
                <a16:creationId xmlns:a16="http://schemas.microsoft.com/office/drawing/2014/main" id="{5D018C77-7B89-0D74-9A77-45D740DF39A3}"/>
              </a:ext>
            </a:extLst>
          </p:cNvPr>
          <p:cNvSpPr/>
          <p:nvPr/>
        </p:nvSpPr>
        <p:spPr>
          <a:xfrm>
            <a:off x="7237633" y="2469510"/>
            <a:ext cx="1430880" cy="331182"/>
          </a:xfrm>
          <a:prstGeom prst="roundRect">
            <a:avLst>
              <a:gd name="adj" fmla="val 12000"/>
            </a:avLst>
          </a:prstGeom>
          <a:solidFill>
            <a:srgbClr val="0B878B"/>
          </a:solidFill>
          <a:ln>
            <a:solidFill>
              <a:srgbClr val="0B8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243AF38-D524-4168-9B84-EA592E432E00}"/>
              </a:ext>
            </a:extLst>
          </p:cNvPr>
          <p:cNvSpPr txBox="1"/>
          <p:nvPr/>
        </p:nvSpPr>
        <p:spPr>
          <a:xfrm>
            <a:off x="7603289" y="2480388"/>
            <a:ext cx="13258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Delivery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66ACABF-536E-75E5-D89F-70A260899F9D}"/>
              </a:ext>
            </a:extLst>
          </p:cNvPr>
          <p:cNvSpPr txBox="1"/>
          <p:nvPr/>
        </p:nvSpPr>
        <p:spPr>
          <a:xfrm>
            <a:off x="457200" y="2197188"/>
            <a:ext cx="2203703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dirty="0">
                <a:solidFill>
                  <a:srgbClr val="0B878B"/>
                </a:solidFill>
                <a:latin typeface="Aptos"/>
              </a:rPr>
              <a:t>SUPPLY CHAIN JOURNEY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FF9D19A-A9D6-BF9F-9B81-8AC4F1B7F878}"/>
              </a:ext>
            </a:extLst>
          </p:cNvPr>
          <p:cNvSpPr txBox="1"/>
          <p:nvPr/>
        </p:nvSpPr>
        <p:spPr>
          <a:xfrm>
            <a:off x="7301063" y="2509923"/>
            <a:ext cx="320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dirty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Methodology: six phases, raw data to insight</a:t>
            </a:r>
            <a:endParaRPr lang="en-US" sz="2800" dirty="0"/>
          </a:p>
        </p:txBody>
      </p:sp>
      <p:sp>
        <p:nvSpPr>
          <p:cNvPr id="3" name="phase 1"/>
          <p:cNvSpPr/>
          <p:nvPr/>
        </p:nvSpPr>
        <p:spPr>
          <a:xfrm>
            <a:off x="457200" y="1234440"/>
            <a:ext cx="128016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12064" y="141732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5" name="phase number 1"/>
          <p:cNvSpPr/>
          <p:nvPr/>
        </p:nvSpPr>
        <p:spPr>
          <a:xfrm>
            <a:off x="932688" y="10698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3268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Claude.ai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7004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5 CSV files: 1 fact, 4 dimension tables</a:t>
            </a:r>
            <a:endParaRPr lang="en-US" sz="1100" dirty="0"/>
          </a:p>
        </p:txBody>
      </p:sp>
      <p:sp>
        <p:nvSpPr>
          <p:cNvPr id="9" name="phase 2"/>
          <p:cNvSpPr/>
          <p:nvPr/>
        </p:nvSpPr>
        <p:spPr>
          <a:xfrm>
            <a:off x="1828800" y="1234440"/>
            <a:ext cx="128016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883664" y="141732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Data understanding</a:t>
            </a:r>
            <a:endParaRPr lang="en-US" sz="1300" dirty="0"/>
          </a:p>
        </p:txBody>
      </p:sp>
      <p:sp>
        <p:nvSpPr>
          <p:cNvPr id="11" name="phase number 2"/>
          <p:cNvSpPr/>
          <p:nvPr/>
        </p:nvSpPr>
        <p:spPr>
          <a:xfrm>
            <a:off x="2304288" y="10698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30428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Python, Pandas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67004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List of data quality issues</a:t>
            </a:r>
            <a:endParaRPr lang="en-US" sz="1100" dirty="0"/>
          </a:p>
        </p:txBody>
      </p:sp>
      <p:sp>
        <p:nvSpPr>
          <p:cNvPr id="15" name="phase 3"/>
          <p:cNvSpPr/>
          <p:nvPr/>
        </p:nvSpPr>
        <p:spPr>
          <a:xfrm>
            <a:off x="3200400" y="1234440"/>
            <a:ext cx="128016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3255264" y="141732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Cleaning &amp; transformation</a:t>
            </a:r>
            <a:endParaRPr lang="en-US" sz="1300" dirty="0"/>
          </a:p>
        </p:txBody>
      </p:sp>
      <p:sp>
        <p:nvSpPr>
          <p:cNvPr id="17" name="phase number 3"/>
          <p:cNvSpPr/>
          <p:nvPr/>
        </p:nvSpPr>
        <p:spPr>
          <a:xfrm>
            <a:off x="3675888" y="10698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367588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Python, Pandas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267004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Clean fact table, 10,470 rows</a:t>
            </a:r>
            <a:endParaRPr lang="en-US" sz="1100" dirty="0"/>
          </a:p>
        </p:txBody>
      </p:sp>
      <p:sp>
        <p:nvSpPr>
          <p:cNvPr id="21" name="phase 4"/>
          <p:cNvSpPr/>
          <p:nvPr/>
        </p:nvSpPr>
        <p:spPr>
          <a:xfrm>
            <a:off x="4572000" y="1234440"/>
            <a:ext cx="128016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626864" y="141732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23" name="phase number 4"/>
          <p:cNvSpPr/>
          <p:nvPr/>
        </p:nvSpPr>
        <p:spPr>
          <a:xfrm>
            <a:off x="5047488" y="10698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04748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Python, Pandas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267004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6 new columns, 45-column fact table</a:t>
            </a:r>
            <a:endParaRPr lang="en-US" sz="1100" dirty="0"/>
          </a:p>
        </p:txBody>
      </p:sp>
      <p:sp>
        <p:nvSpPr>
          <p:cNvPr id="27" name="phase 5"/>
          <p:cNvSpPr/>
          <p:nvPr/>
        </p:nvSpPr>
        <p:spPr>
          <a:xfrm>
            <a:off x="5943600" y="1234440"/>
            <a:ext cx="128016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5998464" y="141732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Data modelling</a:t>
            </a:r>
            <a:endParaRPr lang="en-US" sz="1300" dirty="0"/>
          </a:p>
        </p:txBody>
      </p:sp>
      <p:sp>
        <p:nvSpPr>
          <p:cNvPr id="29" name="phase number 5"/>
          <p:cNvSpPr/>
          <p:nvPr/>
        </p:nvSpPr>
        <p:spPr>
          <a:xfrm>
            <a:off x="6419088" y="10698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41908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Power BI, DAX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267004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Star schema, 35 DAX measures</a:t>
            </a:r>
            <a:endParaRPr lang="en-US" sz="1100" dirty="0"/>
          </a:p>
        </p:txBody>
      </p:sp>
      <p:sp>
        <p:nvSpPr>
          <p:cNvPr id="33" name="phase 6"/>
          <p:cNvSpPr/>
          <p:nvPr/>
        </p:nvSpPr>
        <p:spPr>
          <a:xfrm>
            <a:off x="7315200" y="1234440"/>
            <a:ext cx="128016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7370064" y="1417320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Dashboard &amp; insights</a:t>
            </a:r>
            <a:endParaRPr lang="en-US" sz="1300" dirty="0"/>
          </a:p>
        </p:txBody>
      </p:sp>
      <p:sp>
        <p:nvSpPr>
          <p:cNvPr id="35" name="phase number 6"/>
          <p:cNvSpPr/>
          <p:nvPr/>
        </p:nvSpPr>
        <p:spPr>
          <a:xfrm>
            <a:off x="7790688" y="106984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779068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Power BI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267004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7-page dashboard, recommendations</a:t>
            </a:r>
            <a:endParaRPr lang="en-US" sz="1100" dirty="0"/>
          </a:p>
        </p:txBody>
      </p:sp>
      <p:sp>
        <p:nvSpPr>
          <p:cNvPr id="39" name="tool stack panel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6400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3931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Python + Pandas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cleaning, features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240280" y="3931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Jupyter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documented workflow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3840480" y="3931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Excel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5-sheet data source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40680" y="3931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Power BI + DAX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model, 7 pages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040880" y="3931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Claude.ai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synthetic dataset</a:t>
            </a:r>
            <a:endParaRPr lang="en-US" sz="12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collection and understanding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Synthetic data for a fictional Indian e-commerce company, modelled on marketplaces like Amazon, Flipkart, Meesho and Myntra.</a:t>
            </a:r>
            <a:endParaRPr lang="en-US" sz="1300" dirty="0"/>
          </a:p>
        </p:txBody>
      </p:sp>
      <p:graphicFrame>
        <p:nvGraphicFramePr>
          <p:cNvPr id="7" name="data tables overvie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237744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7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7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7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Content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7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</a:rPr>
                        <a:t>Transactions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Fact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10,536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Order lines: quantities, costs, dates, delays, stages, weather, inventory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</a:rPr>
                        <a:t>Products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9 categories, priority, lead time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</a:rPr>
                        <a:t>Supplier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11 manufacturers, 4 distributors, rating 3.4 to 4.5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</a:rPr>
                        <a:t>Location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15 warehouses in 4 regions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</a:rPr>
                        <a:t>Transportation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Dimension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</a:rPr>
                        <a:t>11 road, 2 air, 2 rail routes</a:t>
                      </a:r>
                      <a:endParaRPr lang="en-US" sz="11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data stat 1"/>
          <p:cNvSpPr/>
          <p:nvPr/>
        </p:nvSpPr>
        <p:spPr>
          <a:xfrm>
            <a:off x="457200" y="38862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457200" y="39044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10,470</a:t>
            </a:r>
            <a:endParaRPr lang="en-US" sz="2400" dirty="0"/>
          </a:p>
        </p:txBody>
      </p:sp>
      <p:sp>
        <p:nvSpPr>
          <p:cNvPr id="4" name="Text 4"/>
          <p:cNvSpPr txBox="1"/>
          <p:nvPr/>
        </p:nvSpPr>
        <p:spPr>
          <a:xfrm>
            <a:off x="457200" y="434340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clean rows</a:t>
            </a:r>
            <a:endParaRPr lang="en-US" sz="1100" dirty="0"/>
          </a:p>
        </p:txBody>
      </p:sp>
      <p:sp>
        <p:nvSpPr>
          <p:cNvPr id="8" name="data stat 2"/>
          <p:cNvSpPr/>
          <p:nvPr/>
        </p:nvSpPr>
        <p:spPr>
          <a:xfrm>
            <a:off x="2176272" y="38862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2176272" y="39044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6,078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176272" y="434340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unique orders</a:t>
            </a:r>
            <a:endParaRPr lang="en-US" sz="1100" dirty="0"/>
          </a:p>
        </p:txBody>
      </p:sp>
      <p:sp>
        <p:nvSpPr>
          <p:cNvPr id="11" name="data stat 3"/>
          <p:cNvSpPr/>
          <p:nvPr/>
        </p:nvSpPr>
        <p:spPr>
          <a:xfrm>
            <a:off x="3895344" y="38862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3895344" y="39044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45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3895344" y="434340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analysis columns</a:t>
            </a:r>
            <a:endParaRPr lang="en-US" sz="1100" dirty="0"/>
          </a:p>
        </p:txBody>
      </p:sp>
      <p:sp>
        <p:nvSpPr>
          <p:cNvPr id="14" name="quality issues panel"/>
          <p:cNvSpPr/>
          <p:nvPr/>
        </p:nvSpPr>
        <p:spPr>
          <a:xfrm>
            <a:off x="5715000" y="1371600"/>
            <a:ext cx="2971800" cy="3246120"/>
          </a:xfrm>
          <a:prstGeom prst="roundRect">
            <a:avLst>
              <a:gd name="adj" fmla="val 24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589788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8 data quality issues found in the raw fact table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897880" y="201168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Missing values in 12+ columns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36 duplicate transactions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Mixed upper/lower case text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Unit cost stored as text (Rs.)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Five different date formats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Placeholder costs (-100, 999999)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30 negative quantities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40 over-deliveries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Cleaning and feature engineering in Python</a:t>
            </a:r>
            <a:endParaRPr lang="en-US" sz="2800" dirty="0"/>
          </a:p>
        </p:txBody>
      </p:sp>
      <p:sp>
        <p:nvSpPr>
          <p:cNvPr id="3" name="row step 1"/>
          <p:cNvSpPr/>
          <p:nvPr/>
        </p:nvSpPr>
        <p:spPr>
          <a:xfrm>
            <a:off x="457200" y="1051560"/>
            <a:ext cx="932688" cy="868680"/>
          </a:xfrm>
          <a:prstGeom prst="roundRect">
            <a:avLst>
              <a:gd name="adj" fmla="val 8421"/>
            </a:avLst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10,536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361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raw rows</a:t>
            </a:r>
            <a:endParaRPr lang="en-US" sz="1000" dirty="0"/>
          </a:p>
        </p:txBody>
      </p:sp>
      <p:sp>
        <p:nvSpPr>
          <p:cNvPr id="6" name="row step 2"/>
          <p:cNvSpPr/>
          <p:nvPr/>
        </p:nvSpPr>
        <p:spPr>
          <a:xfrm>
            <a:off x="1481328" y="1051560"/>
            <a:ext cx="932688" cy="868680"/>
          </a:xfrm>
          <a:prstGeom prst="roundRect">
            <a:avLst>
              <a:gd name="adj" fmla="val 8421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481328" y="109728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-36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5361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duplicate IDs</a:t>
            </a:r>
            <a:endParaRPr lang="en-US" sz="1000" dirty="0"/>
          </a:p>
        </p:txBody>
      </p:sp>
      <p:sp>
        <p:nvSpPr>
          <p:cNvPr id="9" name="row step 3"/>
          <p:cNvSpPr/>
          <p:nvPr/>
        </p:nvSpPr>
        <p:spPr>
          <a:xfrm>
            <a:off x="2505456" y="1051560"/>
            <a:ext cx="932688" cy="868680"/>
          </a:xfrm>
          <a:prstGeom prst="roundRect">
            <a:avLst>
              <a:gd name="adj" fmla="val 8421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505456" y="109728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-30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05456" y="15361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negative qty</a:t>
            </a:r>
            <a:endParaRPr lang="en-US" sz="1000" dirty="0"/>
          </a:p>
        </p:txBody>
      </p:sp>
      <p:sp>
        <p:nvSpPr>
          <p:cNvPr id="12" name="row step 4"/>
          <p:cNvSpPr/>
          <p:nvPr/>
        </p:nvSpPr>
        <p:spPr>
          <a:xfrm>
            <a:off x="3529584" y="1051560"/>
            <a:ext cx="932688" cy="868680"/>
          </a:xfrm>
          <a:prstGeom prst="roundRect">
            <a:avLst>
              <a:gd name="adj" fmla="val 8421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529584" y="109728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10,470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15361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clean rows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Cleaning steps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423160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Text trimmed and standardised; flags mapped to Yes / No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Unit cost converted to numbers; placeholders replaced by median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Five date formats parsed into true dates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Missing values treated by cause, not one blanket rule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In-transit and cancelled orders kept blank on purpose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All validation checks re-run and passed</a:t>
            </a:r>
            <a:endParaRPr lang="en-US" sz="1200" dirty="0"/>
          </a:p>
        </p:txBody>
      </p:sp>
      <p:sp>
        <p:nvSpPr>
          <p:cNvPr id="17" name="feature engineering panel"/>
          <p:cNvSpPr/>
          <p:nvPr/>
        </p:nvSpPr>
        <p:spPr>
          <a:xfrm>
            <a:off x="475488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Six engineered features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15544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Primary_Bottleneck_Stage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slowest stage per order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0116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Bottleneck_Days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days lost in that stage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4688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Promised_Lead_Time_Days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promise minus order date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9260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Order_Fulfillment_Gap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ordered minus delivered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3832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Undelivered_Order_Value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gap in rupees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38404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Delay_Percentage_of_Promised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delay vs promised time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4297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Result: procurement is the slowest stage for 70.3% of transaction lines.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modelling: star schema and DAX</a:t>
            </a:r>
            <a:endParaRPr lang="en-US" sz="2800" dirty="0"/>
          </a:p>
        </p:txBody>
      </p:sp>
      <p:sp>
        <p:nvSpPr>
          <p:cNvPr id="3" name="schema frame"/>
          <p:cNvSpPr/>
          <p:nvPr/>
        </p:nvSpPr>
        <p:spPr>
          <a:xfrm>
            <a:off x="420624" y="1060704"/>
            <a:ext cx="4370832" cy="3261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7DD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star schema diagram" descr="Star schema: Transactions fact table joined to Products, Supplier, Location, Transportation and Date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297680" cy="31887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957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One-to-many relationships; dimension tables filter the fact table, so every slicer cross-filters every visual.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35 reusable DAX measures</a:t>
            </a:r>
            <a:endParaRPr lang="en-US" sz="1500" dirty="0"/>
          </a:p>
        </p:txBody>
      </p:sp>
      <p:sp>
        <p:nvSpPr>
          <p:cNvPr id="7" name="dax count 1"/>
          <p:cNvSpPr/>
          <p:nvPr/>
        </p:nvSpPr>
        <p:spPr>
          <a:xfrm>
            <a:off x="5029200" y="1444752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5029200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Volume &amp; delay KPIs</a:t>
            </a:r>
            <a:endParaRPr lang="en-US" sz="1200" dirty="0"/>
          </a:p>
        </p:txBody>
      </p:sp>
      <p:sp>
        <p:nvSpPr>
          <p:cNvPr id="10" name="dax count 2"/>
          <p:cNvSpPr/>
          <p:nvPr/>
        </p:nvSpPr>
        <p:spPr>
          <a:xfrm>
            <a:off x="5029200" y="178308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5029200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Bottleneck</a:t>
            </a:r>
            <a:endParaRPr lang="en-US" sz="1200" dirty="0"/>
          </a:p>
        </p:txBody>
      </p:sp>
      <p:sp>
        <p:nvSpPr>
          <p:cNvPr id="13" name="dax count 3"/>
          <p:cNvSpPr/>
          <p:nvPr/>
        </p:nvSpPr>
        <p:spPr>
          <a:xfrm>
            <a:off x="5029200" y="2121408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5029200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Supplier &amp; procurement</a:t>
            </a:r>
            <a:endParaRPr lang="en-US" sz="1200" dirty="0"/>
          </a:p>
        </p:txBody>
      </p:sp>
      <p:sp>
        <p:nvSpPr>
          <p:cNvPr id="16" name="dax count 4"/>
          <p:cNvSpPr/>
          <p:nvPr/>
        </p:nvSpPr>
        <p:spPr>
          <a:xfrm>
            <a:off x="5029200" y="2459736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5029200" y="2459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2459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Logistics &amp; risk</a:t>
            </a:r>
            <a:endParaRPr lang="en-US" sz="1200" dirty="0"/>
          </a:p>
        </p:txBody>
      </p:sp>
      <p:sp>
        <p:nvSpPr>
          <p:cNvPr id="19" name="dax count 5"/>
          <p:cNvSpPr/>
          <p:nvPr/>
        </p:nvSpPr>
        <p:spPr>
          <a:xfrm>
            <a:off x="5029200" y="2798064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5029200" y="27980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577840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Inventory &amp; fulfilment</a:t>
            </a:r>
            <a:endParaRPr lang="en-US" sz="1200" dirty="0"/>
          </a:p>
        </p:txBody>
      </p:sp>
      <p:sp>
        <p:nvSpPr>
          <p:cNvPr id="22" name="dax count 6"/>
          <p:cNvSpPr/>
          <p:nvPr/>
        </p:nvSpPr>
        <p:spPr>
          <a:xfrm>
            <a:off x="5029200" y="3136392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5029200" y="3136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0" y="3136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Display &amp; helper</a:t>
            </a:r>
            <a:endParaRPr lang="en-US" sz="1200" dirty="0"/>
          </a:p>
        </p:txBody>
      </p:sp>
      <p:sp>
        <p:nvSpPr>
          <p:cNvPr id="25" name="dax code box"/>
          <p:cNvSpPr/>
          <p:nvPr/>
        </p:nvSpPr>
        <p:spPr>
          <a:xfrm>
            <a:off x="5029200" y="3566160"/>
            <a:ext cx="3657600" cy="105156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5212080" y="36118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Rate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DIVIDE( [Delayed Orders],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[Completed Orders] 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212080" y="4279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Orders = distinct Order_ID (6.1K); transactions = order lines (10,470).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Dashboard development: a guided journey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Big picture first, then where and why delays happen, then which orders to act on.</a:t>
            </a:r>
            <a:endParaRPr lang="en-US" sz="1300" dirty="0"/>
          </a:p>
        </p:txBody>
      </p:sp>
      <p:sp>
        <p:nvSpPr>
          <p:cNvPr id="4" name="page card 1"/>
          <p:cNvSpPr/>
          <p:nvPr/>
        </p:nvSpPr>
        <p:spPr>
          <a:xfrm>
            <a:off x="457200" y="137160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page 1 circle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pag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611630"/>
            <a:ext cx="20574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481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029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Executive Overview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KPIs, delay drivers, worst orders</a:t>
            </a:r>
            <a:endParaRPr lang="en-US" sz="1100" dirty="0"/>
          </a:p>
        </p:txBody>
      </p:sp>
      <p:sp>
        <p:nvSpPr>
          <p:cNvPr id="10" name="page card 2"/>
          <p:cNvSpPr/>
          <p:nvPr/>
        </p:nvSpPr>
        <p:spPr>
          <a:xfrm>
            <a:off x="2542032" y="137160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page 2 circle"/>
          <p:cNvSpPr/>
          <p:nvPr/>
        </p:nvSpPr>
        <p:spPr>
          <a:xfrm>
            <a:off x="2679192" y="1508760"/>
            <a:ext cx="411480" cy="41148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pag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062" y="1611630"/>
            <a:ext cx="205740" cy="2057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96512" y="1481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679192" y="2029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Delay Analysis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679192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Trend, severity, region, category</a:t>
            </a:r>
            <a:endParaRPr lang="en-US" sz="1100" dirty="0"/>
          </a:p>
        </p:txBody>
      </p:sp>
      <p:sp>
        <p:nvSpPr>
          <p:cNvPr id="16" name="page card 3"/>
          <p:cNvSpPr/>
          <p:nvPr/>
        </p:nvSpPr>
        <p:spPr>
          <a:xfrm>
            <a:off x="4626864" y="137160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page 3 circle"/>
          <p:cNvSpPr/>
          <p:nvPr/>
        </p:nvSpPr>
        <p:spPr>
          <a:xfrm>
            <a:off x="4764024" y="1508760"/>
            <a:ext cx="411480" cy="411480"/>
          </a:xfrm>
          <a:prstGeom prst="ellipse">
            <a:avLst/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pag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894" y="1611630"/>
            <a:ext cx="205740" cy="2057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81344" y="1481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764024" y="2029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Bottleneck Analysis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764024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Days lost by stage and region</a:t>
            </a:r>
            <a:endParaRPr lang="en-US" sz="1100" dirty="0"/>
          </a:p>
        </p:txBody>
      </p:sp>
      <p:sp>
        <p:nvSpPr>
          <p:cNvPr id="22" name="page card 4"/>
          <p:cNvSpPr/>
          <p:nvPr/>
        </p:nvSpPr>
        <p:spPr>
          <a:xfrm>
            <a:off x="6711696" y="137160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page 4 circle"/>
          <p:cNvSpPr/>
          <p:nvPr/>
        </p:nvSpPr>
        <p:spPr>
          <a:xfrm>
            <a:off x="6848856" y="1508760"/>
            <a:ext cx="411480" cy="41148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page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1726" y="1611630"/>
            <a:ext cx="205740" cy="2057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266176" y="14813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848856" y="2029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Supplier &amp; Procurement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848856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Supplier delay rate, lead times</a:t>
            </a:r>
            <a:endParaRPr lang="en-US" sz="1100" dirty="0"/>
          </a:p>
        </p:txBody>
      </p:sp>
      <p:sp>
        <p:nvSpPr>
          <p:cNvPr id="28" name="page card 5"/>
          <p:cNvSpPr/>
          <p:nvPr/>
        </p:nvSpPr>
        <p:spPr>
          <a:xfrm>
            <a:off x="457200" y="301752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page 5 circle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page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" y="3257550"/>
            <a:ext cx="205740" cy="2057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011680" y="31272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594360" y="3675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Logistics &amp; Risk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9436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Traffic, weather, road condition</a:t>
            </a:r>
            <a:endParaRPr lang="en-US" sz="1100" dirty="0"/>
          </a:p>
        </p:txBody>
      </p:sp>
      <p:sp>
        <p:nvSpPr>
          <p:cNvPr id="34" name="page card 6"/>
          <p:cNvSpPr/>
          <p:nvPr/>
        </p:nvSpPr>
        <p:spPr>
          <a:xfrm>
            <a:off x="2542032" y="301752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page 6 circle"/>
          <p:cNvSpPr/>
          <p:nvPr/>
        </p:nvSpPr>
        <p:spPr>
          <a:xfrm>
            <a:off x="2679192" y="3154680"/>
            <a:ext cx="411480" cy="41148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page 6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2062" y="3257550"/>
            <a:ext cx="205740" cy="20574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096512" y="31272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2679192" y="3675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Inventory &amp; Fulfillment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2679192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Stockouts, fulfilment rate</a:t>
            </a:r>
            <a:endParaRPr lang="en-US" sz="1100" dirty="0"/>
          </a:p>
        </p:txBody>
      </p:sp>
      <p:sp>
        <p:nvSpPr>
          <p:cNvPr id="40" name="page card 7"/>
          <p:cNvSpPr/>
          <p:nvPr/>
        </p:nvSpPr>
        <p:spPr>
          <a:xfrm>
            <a:off x="4626864" y="301752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page 7 circle"/>
          <p:cNvSpPr/>
          <p:nvPr/>
        </p:nvSpPr>
        <p:spPr>
          <a:xfrm>
            <a:off x="4764024" y="3154680"/>
            <a:ext cx="411480" cy="411480"/>
          </a:xfrm>
          <a:prstGeom prst="ellipse">
            <a:avLst/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page 7 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6894" y="3257550"/>
            <a:ext cx="205740" cy="20574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181344" y="31272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7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4764024" y="3675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Order Details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4764024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Drill-down to single orders</a:t>
            </a:r>
            <a:endParaRPr lang="en-US" sz="1100" dirty="0"/>
          </a:p>
        </p:txBody>
      </p:sp>
      <p:sp>
        <p:nvSpPr>
          <p:cNvPr id="46" name="interactivity card"/>
          <p:cNvSpPr/>
          <p:nvPr/>
        </p:nvSpPr>
        <p:spPr>
          <a:xfrm>
            <a:off x="6711696" y="3017520"/>
            <a:ext cx="196596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8"/>
          <p:cNvSpPr txBox="1"/>
          <p:nvPr/>
        </p:nvSpPr>
        <p:spPr>
          <a:xfrm>
            <a:off x="6848856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On every page</a:t>
            </a:r>
            <a:endParaRPr lang="en-US" sz="1300" dirty="0"/>
          </a:p>
        </p:txBody>
      </p:sp>
      <p:sp>
        <p:nvSpPr>
          <p:cNvPr id="48" name="Text 39"/>
          <p:cNvSpPr txBox="1"/>
          <p:nvPr/>
        </p:nvSpPr>
        <p:spPr>
          <a:xfrm>
            <a:off x="6848856" y="34290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Left navigation panel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Year and Region slicers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Reset Filters button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Last Refreshed stamp</a:t>
            </a:r>
            <a:endParaRPr lang="en-US" sz="11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Executive Overview</a:t>
            </a:r>
            <a:endParaRPr lang="en-US" sz="2800" dirty="0"/>
          </a:p>
        </p:txBody>
      </p:sp>
      <p:sp>
        <p:nvSpPr>
          <p:cNvPr id="3" name="Executive Overview frame"/>
          <p:cNvSpPr/>
          <p:nvPr/>
        </p:nvSpPr>
        <p:spPr>
          <a:xfrm>
            <a:off x="420624" y="1014984"/>
            <a:ext cx="5102352" cy="2891771"/>
          </a:xfrm>
          <a:prstGeom prst="rect">
            <a:avLst/>
          </a:prstGeom>
          <a:solidFill>
            <a:srgbClr val="FFFFFF"/>
          </a:solidFill>
          <a:ln w="9525">
            <a:solidFill>
              <a:srgbClr val="CBD7DD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Executive Overview" descr="Executive Overview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029200" cy="281861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leadership sees at a glance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60020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Five KPI cards: orders, delayed orders, delay rate, average delay, fulfilment rate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Delay reasons, with the top reason highlighted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Delay days by bottleneck stage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Worst orders, colour-coded yellow to red</a:t>
            </a:r>
            <a:endParaRPr lang="en-US" sz="1200" dirty="0"/>
          </a:p>
        </p:txBody>
      </p:sp>
      <p:sp>
        <p:nvSpPr>
          <p:cNvPr id="7" name="kpi 1"/>
          <p:cNvSpPr/>
          <p:nvPr/>
        </p:nvSpPr>
        <p:spPr>
          <a:xfrm>
            <a:off x="457200" y="402336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457200" y="40416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6.1K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389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orders</a:t>
            </a:r>
            <a:endParaRPr lang="en-US" sz="1100" dirty="0"/>
          </a:p>
        </p:txBody>
      </p:sp>
      <p:sp>
        <p:nvSpPr>
          <p:cNvPr id="10" name="kpi 2"/>
          <p:cNvSpPr/>
          <p:nvPr/>
        </p:nvSpPr>
        <p:spPr>
          <a:xfrm>
            <a:off x="2176272" y="402336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2176272" y="40416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60.2%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2176272" y="4389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delay rate</a:t>
            </a:r>
            <a:endParaRPr lang="en-US" sz="1100" dirty="0"/>
          </a:p>
        </p:txBody>
      </p:sp>
      <p:sp>
        <p:nvSpPr>
          <p:cNvPr id="13" name="kpi 3"/>
          <p:cNvSpPr/>
          <p:nvPr/>
        </p:nvSpPr>
        <p:spPr>
          <a:xfrm>
            <a:off x="3895344" y="402336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3895344" y="40416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95.2%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895344" y="43891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fulfilled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3.6K delayed orders, running 1.9 days late on average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Delay and bottleneck analysis</a:t>
            </a:r>
            <a:endParaRPr lang="en-US" sz="2800" dirty="0"/>
          </a:p>
        </p:txBody>
      </p:sp>
      <p:sp>
        <p:nvSpPr>
          <p:cNvPr id="3" name="Delay Analysis frame"/>
          <p:cNvSpPr/>
          <p:nvPr/>
        </p:nvSpPr>
        <p:spPr>
          <a:xfrm>
            <a:off x="420624" y="1060704"/>
            <a:ext cx="4050792" cy="23024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7DD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Delay Analysis" descr="Delay Analysis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977640" cy="22292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509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Delay Analysis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5690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Minor 3,271, moderate 452, severe 12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Monthly drop after August reflects data ending 17 Sep 2026, not improvement</a:t>
            </a:r>
            <a:endParaRPr lang="en-US" sz="1200" dirty="0"/>
          </a:p>
        </p:txBody>
      </p:sp>
      <p:sp>
        <p:nvSpPr>
          <p:cNvPr id="7" name="Bottleneck Analysis frame"/>
          <p:cNvSpPr/>
          <p:nvPr/>
        </p:nvSpPr>
        <p:spPr>
          <a:xfrm>
            <a:off x="4672584" y="1060704"/>
            <a:ext cx="4050792" cy="23024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7DD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Bottleneck Analysis" descr="Bottleneck Analysis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97280"/>
            <a:ext cx="3977640" cy="2229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09160" y="3509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Bottleneck Analysis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385690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56K bottleneck days; 41.0K sit in procurement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Heat-map matrices by region, stage and traffic level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Supplier and logistics analysis</a:t>
            </a:r>
            <a:endParaRPr lang="en-US" sz="2800" dirty="0"/>
          </a:p>
        </p:txBody>
      </p:sp>
      <p:sp>
        <p:nvSpPr>
          <p:cNvPr id="3" name="Supplier &amp; Procurement frame"/>
          <p:cNvSpPr/>
          <p:nvPr/>
        </p:nvSpPr>
        <p:spPr>
          <a:xfrm>
            <a:off x="420624" y="1060704"/>
            <a:ext cx="4050792" cy="23024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7DD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Supplier &amp; Procurement" descr="Supplier &amp; Procuremen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977640" cy="22292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509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Supplier &amp; Procurement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5690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Supplier delay rate 58.5%, average rating 3.96 / 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Top 10 suppliers sit in a narrow 300 to 345 delayed-order band</a:t>
            </a:r>
            <a:endParaRPr lang="en-US" sz="1200" dirty="0"/>
          </a:p>
        </p:txBody>
      </p:sp>
      <p:sp>
        <p:nvSpPr>
          <p:cNvPr id="7" name="Logistics &amp; Risk frame"/>
          <p:cNvSpPr/>
          <p:nvPr/>
        </p:nvSpPr>
        <p:spPr>
          <a:xfrm>
            <a:off x="4672584" y="1060704"/>
            <a:ext cx="4050792" cy="23024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7DD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Logistics &amp; Risk" descr="Logistics &amp; Risk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97280"/>
            <a:ext cx="3977640" cy="2229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09160" y="3509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Logistics &amp; Risk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385690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Delay rate by road condition, traffic and weather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Flooded roads: 75.9%, versus 51.8% on normal roads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Inventory analysis and order drill-down</a:t>
            </a:r>
            <a:endParaRPr lang="en-US" sz="2800" dirty="0"/>
          </a:p>
        </p:txBody>
      </p:sp>
      <p:sp>
        <p:nvSpPr>
          <p:cNvPr id="3" name="Inventory &amp; Fulfillment frame"/>
          <p:cNvSpPr/>
          <p:nvPr/>
        </p:nvSpPr>
        <p:spPr>
          <a:xfrm>
            <a:off x="420624" y="1060704"/>
            <a:ext cx="4050792" cy="23024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7DD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nventory &amp; Fulfillment" descr="Inventory &amp; Fulfillment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977640" cy="22292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509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Inventory &amp; Fulfillment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5690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Delay rate 86% with a stockout, 56% without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Warehouse utilisation averages 68.1%</a:t>
            </a:r>
            <a:endParaRPr lang="en-US" sz="1200" dirty="0"/>
          </a:p>
        </p:txBody>
      </p:sp>
      <p:sp>
        <p:nvSpPr>
          <p:cNvPr id="7" name="Order Details frame"/>
          <p:cNvSpPr/>
          <p:nvPr/>
        </p:nvSpPr>
        <p:spPr>
          <a:xfrm>
            <a:off x="4672584" y="1060704"/>
            <a:ext cx="4050792" cy="23024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7DD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Order Details" descr="Order Details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97280"/>
            <a:ext cx="3977640" cy="22292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09160" y="3509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Order Details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3856904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Drill down to individual orders and transaction lines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Extra slicers: bottleneck stage, severity, delay status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Key findings: four numbers that matter</a:t>
            </a:r>
            <a:endParaRPr lang="en-US" sz="2800" dirty="0"/>
          </a:p>
        </p:txBody>
      </p:sp>
      <p:sp>
        <p:nvSpPr>
          <p:cNvPr id="3" name="headline stat 1"/>
          <p:cNvSpPr/>
          <p:nvPr/>
        </p:nvSpPr>
        <p:spPr>
          <a:xfrm>
            <a:off x="457200" y="10972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737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60.2%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207008"/>
            <a:ext cx="1920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of orders are delayed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3.6K of 6.1K orders, 1.9 days late on average</a:t>
            </a:r>
            <a:endParaRPr lang="en-US" sz="1400" dirty="0"/>
          </a:p>
        </p:txBody>
      </p:sp>
      <p:sp>
        <p:nvSpPr>
          <p:cNvPr id="6" name="headline stat 2"/>
          <p:cNvSpPr/>
          <p:nvPr/>
        </p:nvSpPr>
        <p:spPr>
          <a:xfrm>
            <a:off x="4663440" y="10972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46320" y="1207008"/>
            <a:ext cx="1737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207008"/>
            <a:ext cx="1920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of bottleneck days are procurement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41.0K of 56.0K days lost</a:t>
            </a:r>
            <a:endParaRPr lang="en-US" sz="1400" dirty="0"/>
          </a:p>
        </p:txBody>
      </p:sp>
      <p:sp>
        <p:nvSpPr>
          <p:cNvPr id="9" name="headline stat 3"/>
          <p:cNvSpPr/>
          <p:nvPr/>
        </p:nvSpPr>
        <p:spPr>
          <a:xfrm>
            <a:off x="457200" y="25146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2624328"/>
            <a:ext cx="1737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 pts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624328"/>
            <a:ext cx="1920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delay rate when a stockout occurs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86% with a stockout vs 56% without</a:t>
            </a:r>
            <a:endParaRPr lang="en-US" sz="1400" dirty="0"/>
          </a:p>
        </p:txBody>
      </p:sp>
      <p:sp>
        <p:nvSpPr>
          <p:cNvPr id="12" name="headline stat 4"/>
          <p:cNvSpPr/>
          <p:nvPr/>
        </p:nvSpPr>
        <p:spPr>
          <a:xfrm>
            <a:off x="4663440" y="25146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846320" y="2624328"/>
            <a:ext cx="1737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75.9%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624328"/>
            <a:ext cx="1920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delay rate on flooded roads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vs 51.8% on normal roads</a:t>
            </a:r>
            <a:endParaRPr lang="en-US" sz="1400" dirty="0"/>
          </a:p>
        </p:txBody>
      </p:sp>
      <p:sp>
        <p:nvSpPr>
          <p:cNvPr id="15" name="context strip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Context  </a:t>
            </a:r>
            <a:r>
              <a:rPr lang="en-US" sz="1200" dirty="0">
                <a:solidFill>
                  <a:schemeClr val="tx1"/>
                </a:solidFill>
              </a:rPr>
              <a:t>Delays are frequent but short (3,271 of 3,735 delayed orders were 1 to 3 days), and 95.2% of ordered units were delivered. The problem is timeliness, not volume.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delays originate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51560"/>
          <a:ext cx="43891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insight 1"/>
          <p:cNvSpPr/>
          <p:nvPr/>
        </p:nvSpPr>
        <p:spPr>
          <a:xfrm>
            <a:off x="5120640" y="105156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5257800" y="1078992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Procurement dominates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Orders slowed by procurement lose 5.6 days on average, vs 4.9 for production and transport.</a:t>
            </a:r>
            <a:endParaRPr lang="en-US" sz="1300" dirty="0"/>
          </a:p>
        </p:txBody>
      </p:sp>
      <p:sp>
        <p:nvSpPr>
          <p:cNvPr id="6" name="insight 2"/>
          <p:cNvSpPr/>
          <p:nvPr/>
        </p:nvSpPr>
        <p:spPr>
          <a:xfrm>
            <a:off x="5120640" y="1956816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257800" y="1984248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North region is hardest hit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19.0K bottleneck days (34%), of which 13.9K are procurement.</a:t>
            </a:r>
            <a:endParaRPr lang="en-US" sz="1300" dirty="0"/>
          </a:p>
        </p:txBody>
      </p:sp>
      <p:sp>
        <p:nvSpPr>
          <p:cNvPr id="8" name="insight 3"/>
          <p:cNvSpPr/>
          <p:nvPr/>
        </p:nvSpPr>
        <p:spPr>
          <a:xfrm>
            <a:off x="5120640" y="2862072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257800" y="2889504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It is an internal process issue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Average bottleneck days barely move with traffic level (5.3 to 5.4).</a:t>
            </a:r>
            <a:endParaRPr lang="en-US" sz="1300" dirty="0"/>
          </a:p>
        </p:txBody>
      </p:sp>
      <p:sp>
        <p:nvSpPr>
          <p:cNvPr id="10" name="insight 4"/>
          <p:cNvSpPr/>
          <p:nvPr/>
        </p:nvSpPr>
        <p:spPr>
          <a:xfrm>
            <a:off x="5120640" y="3767328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5257800" y="3794760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Delays are systemic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Top 10 suppliers range only 300 to 345 delayed orders; regional procurement time is 4.7 to 4.8 days.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External risk and inventory effects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51560"/>
          <a:ext cx="40233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1051560"/>
          <a:ext cx="40233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weather note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 txBox="1"/>
          <p:nvPr/>
        </p:nvSpPr>
        <p:spPr>
          <a:xfrm>
            <a:off x="594360" y="3840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Storms add the longest delay (2.3 days vs 1.8 in clear weather); severe traffic adds a similar premium (2.3 vs 1.7).</a:t>
            </a:r>
            <a:endParaRPr lang="en-US" sz="1100" dirty="0"/>
          </a:p>
        </p:txBody>
      </p:sp>
      <p:sp>
        <p:nvSpPr>
          <p:cNvPr id="7" name="stockout note"/>
          <p:cNvSpPr/>
          <p:nvPr/>
        </p:nvSpPr>
        <p:spPr>
          <a:xfrm>
            <a:off x="466344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EEF4F6"/>
          </a:solidFill>
          <a:ln w="9525">
            <a:solidFill>
              <a:srgbClr val="DCE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4800600" y="3840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797 orders hit a stockout while warehouse utilisation averages 68.1%: a replenishment issue, not a space issue.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Recommended actions</a:t>
            </a:r>
            <a:endParaRPr lang="en-US" sz="2800" dirty="0"/>
          </a:p>
        </p:txBody>
      </p:sp>
      <p:sp>
        <p:nvSpPr>
          <p:cNvPr id="3" name="recommendation 1"/>
          <p:cNvSpPr/>
          <p:nvPr/>
        </p:nvSpPr>
        <p:spPr>
          <a:xfrm>
            <a:off x="457200" y="10515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rec 1 circle"/>
          <p:cNvSpPr/>
          <p:nvPr/>
        </p:nvSpPr>
        <p:spPr>
          <a:xfrm>
            <a:off x="594360" y="1188720"/>
            <a:ext cx="411480" cy="411480"/>
          </a:xfrm>
          <a:prstGeom prst="ellipse">
            <a:avLst/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rec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291590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51760" y="11612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09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Shorten procurement time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0391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Lead-time agreements, earlier PO triggers, escalation path; start with North.</a:t>
            </a:r>
            <a:endParaRPr lang="en-US" sz="1100" dirty="0"/>
          </a:p>
        </p:txBody>
      </p:sp>
      <p:sp>
        <p:nvSpPr>
          <p:cNvPr id="9" name="recommendation 2"/>
          <p:cNvSpPr/>
          <p:nvPr/>
        </p:nvSpPr>
        <p:spPr>
          <a:xfrm>
            <a:off x="3246120" y="10515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rec 2 circle"/>
          <p:cNvSpPr/>
          <p:nvPr/>
        </p:nvSpPr>
        <p:spPr>
          <a:xfrm>
            <a:off x="3383280" y="1188720"/>
            <a:ext cx="411480" cy="41148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rec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150" y="129159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1612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1709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Cut stockouts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20391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Demand-based reorder points and safety stock; Grocery first.</a:t>
            </a:r>
            <a:endParaRPr lang="en-US" sz="1100" dirty="0"/>
          </a:p>
        </p:txBody>
      </p:sp>
      <p:sp>
        <p:nvSpPr>
          <p:cNvPr id="15" name="recommendation 3"/>
          <p:cNvSpPr/>
          <p:nvPr/>
        </p:nvSpPr>
        <p:spPr>
          <a:xfrm>
            <a:off x="6035040" y="10515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rec 3 circle"/>
          <p:cNvSpPr/>
          <p:nvPr/>
        </p:nvSpPr>
        <p:spPr>
          <a:xfrm>
            <a:off x="6172200" y="1188720"/>
            <a:ext cx="411480" cy="411480"/>
          </a:xfrm>
          <a:prstGeom prst="ellipse">
            <a:avLst/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rec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070" y="1291590"/>
            <a:ext cx="205740" cy="2057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11612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172200" y="1709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Plan for weather, road and traffic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172200" y="20391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Buffer flood-prone routes, reroute in storms, dispatch off-peak.</a:t>
            </a:r>
            <a:endParaRPr lang="en-US" sz="1100" dirty="0"/>
          </a:p>
        </p:txBody>
      </p:sp>
      <p:sp>
        <p:nvSpPr>
          <p:cNvPr id="21" name="recommendation 4"/>
          <p:cNvSpPr/>
          <p:nvPr/>
        </p:nvSpPr>
        <p:spPr>
          <a:xfrm>
            <a:off x="457200" y="28803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rec 4 circle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rec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" y="3120390"/>
            <a:ext cx="205740" cy="2057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651760" y="2990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94360" y="3538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Run a supplier programme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94360" y="38679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Common service levels and scorecards for all suppliers, not just the weakest.</a:t>
            </a:r>
            <a:endParaRPr lang="en-US" sz="1100" dirty="0"/>
          </a:p>
        </p:txBody>
      </p:sp>
      <p:sp>
        <p:nvSpPr>
          <p:cNvPr id="27" name="recommendation 5"/>
          <p:cNvSpPr/>
          <p:nvPr/>
        </p:nvSpPr>
        <p:spPr>
          <a:xfrm>
            <a:off x="3246120" y="28803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rec 5 circle"/>
          <p:cNvSpPr/>
          <p:nvPr/>
        </p:nvSpPr>
        <p:spPr>
          <a:xfrm>
            <a:off x="3383280" y="3017520"/>
            <a:ext cx="411480" cy="411480"/>
          </a:xfrm>
          <a:prstGeom prst="ellipse">
            <a:avLst/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rec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6150" y="3120390"/>
            <a:ext cx="205740" cy="2057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440680" y="2990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3383280" y="3538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Set realistic promise dates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3383280" y="38679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Delays average 15.5% of lead time; calibrate by region and category.</a:t>
            </a:r>
            <a:endParaRPr lang="en-US" sz="1100" dirty="0"/>
          </a:p>
        </p:txBody>
      </p:sp>
      <p:sp>
        <p:nvSpPr>
          <p:cNvPr id="33" name="recommendation 6"/>
          <p:cNvSpPr/>
          <p:nvPr/>
        </p:nvSpPr>
        <p:spPr>
          <a:xfrm>
            <a:off x="6035040" y="288036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rec 6 circle"/>
          <p:cNvSpPr/>
          <p:nvPr/>
        </p:nvSpPr>
        <p:spPr>
          <a:xfrm>
            <a:off x="6172200" y="3017520"/>
            <a:ext cx="411480" cy="41148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rec 6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5070" y="3120390"/>
            <a:ext cx="205740" cy="2057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229600" y="29900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6172200" y="3538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Watch severe cases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6172200" y="38679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Track the 12 severe delays and critical bottleneck orders in Order Details.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conclusion card 1"/>
          <p:cNvSpPr/>
          <p:nvPr/>
        </p:nvSpPr>
        <p:spPr>
          <a:xfrm>
            <a:off x="54864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1D4A63"/>
          </a:solidFill>
          <a:ln w="9525">
            <a:solidFill>
              <a:srgbClr val="2B63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onclusion 1 circle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F2B24A"/>
          </a:solidFill>
          <a:ln w="12700">
            <a:solidFill>
              <a:srgbClr val="F2B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conclusi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6802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 was built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060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 complete pipeline: a 10,000+ row dataset, Python cleaning, 6 engineered features, a star schema with 35 DAX measures and a 7-page dashboard.</a:t>
            </a:r>
            <a:endParaRPr lang="en-US" sz="1200" dirty="0"/>
          </a:p>
        </p:txBody>
      </p:sp>
      <p:sp>
        <p:nvSpPr>
          <p:cNvPr id="8" name="conclusion card 2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1D4A63"/>
          </a:solidFill>
          <a:ln w="9525">
            <a:solidFill>
              <a:srgbClr val="2B63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onclusion 2 circle"/>
          <p:cNvSpPr/>
          <p:nvPr/>
        </p:nvSpPr>
        <p:spPr>
          <a:xfrm>
            <a:off x="3474720" y="1554480"/>
            <a:ext cx="502920" cy="502920"/>
          </a:xfrm>
          <a:prstGeom prst="ellipse">
            <a:avLst/>
          </a:prstGeom>
          <a:solidFill>
            <a:srgbClr val="F2B24A"/>
          </a:solidFill>
          <a:ln w="12700">
            <a:solidFill>
              <a:srgbClr val="F2B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conclusi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50" y="16802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6060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60.2% of orders are delayed; procurement drives ~73% of bottleneck days; stockouts add ~30 points; flooded roads reach 75.9%.</a:t>
            </a:r>
            <a:endParaRPr lang="en-US" sz="1200" dirty="0"/>
          </a:p>
        </p:txBody>
      </p:sp>
      <p:sp>
        <p:nvSpPr>
          <p:cNvPr id="13" name="conclusion card 3"/>
          <p:cNvSpPr/>
          <p:nvPr/>
        </p:nvSpPr>
        <p:spPr>
          <a:xfrm>
            <a:off x="6035040" y="137160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1D4A63"/>
          </a:solidFill>
          <a:ln w="9525">
            <a:solidFill>
              <a:srgbClr val="2B63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conclusion 3 circle"/>
          <p:cNvSpPr/>
          <p:nvPr/>
        </p:nvSpPr>
        <p:spPr>
          <a:xfrm>
            <a:off x="6217920" y="1554480"/>
            <a:ext cx="502920" cy="502920"/>
          </a:xfrm>
          <a:prstGeom prst="ellipse">
            <a:avLst/>
          </a:prstGeom>
          <a:solidFill>
            <a:srgbClr val="F2B24A"/>
          </a:solidFill>
          <a:ln w="12700">
            <a:solidFill>
              <a:srgbClr val="F2B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conclusi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6802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60604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Fragmented data becomes actionable insight, moving supply chain management from reactive reporting to evidence-based decisions.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3" name="future card 1"/>
          <p:cNvSpPr/>
          <p:nvPr/>
        </p:nvSpPr>
        <p:spPr>
          <a:xfrm>
            <a:off x="457200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future 1 circle"/>
          <p:cNvSpPr/>
          <p:nvPr/>
        </p:nvSpPr>
        <p:spPr>
          <a:xfrm>
            <a:off x="594360" y="1234440"/>
            <a:ext cx="411480" cy="411480"/>
          </a:xfrm>
          <a:prstGeom prst="ellipse">
            <a:avLst/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futur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337310"/>
            <a:ext cx="20574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Predictive delay model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Classify orders likely to be late before they ship.</a:t>
            </a:r>
            <a:endParaRPr lang="en-US" sz="1100" dirty="0"/>
          </a:p>
        </p:txBody>
      </p:sp>
      <p:sp>
        <p:nvSpPr>
          <p:cNvPr id="8" name="future card 2"/>
          <p:cNvSpPr/>
          <p:nvPr/>
        </p:nvSpPr>
        <p:spPr>
          <a:xfrm>
            <a:off x="2542032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future 2 circle"/>
          <p:cNvSpPr/>
          <p:nvPr/>
        </p:nvSpPr>
        <p:spPr>
          <a:xfrm>
            <a:off x="2679192" y="1234440"/>
            <a:ext cx="411480" cy="41148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futur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062" y="1337310"/>
            <a:ext cx="205740" cy="2057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79192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Real-time integration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679192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Live feeds, incremental refresh and threshold alerts.</a:t>
            </a:r>
            <a:endParaRPr lang="en-US" sz="1100" dirty="0"/>
          </a:p>
        </p:txBody>
      </p:sp>
      <p:sp>
        <p:nvSpPr>
          <p:cNvPr id="13" name="future card 3"/>
          <p:cNvSpPr/>
          <p:nvPr/>
        </p:nvSpPr>
        <p:spPr>
          <a:xfrm>
            <a:off x="4626864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future 3 circle"/>
          <p:cNvSpPr/>
          <p:nvPr/>
        </p:nvSpPr>
        <p:spPr>
          <a:xfrm>
            <a:off x="4764024" y="1234440"/>
            <a:ext cx="411480" cy="411480"/>
          </a:xfrm>
          <a:prstGeom prst="ellipse">
            <a:avLst/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futur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894" y="1337310"/>
            <a:ext cx="205740" cy="2057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64024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Cost-of-delay page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764024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Surface the ~Rs 4.57 crore undelivered order value.</a:t>
            </a:r>
            <a:endParaRPr lang="en-US" sz="1100" dirty="0"/>
          </a:p>
        </p:txBody>
      </p:sp>
      <p:sp>
        <p:nvSpPr>
          <p:cNvPr id="18" name="future card 4"/>
          <p:cNvSpPr/>
          <p:nvPr/>
        </p:nvSpPr>
        <p:spPr>
          <a:xfrm>
            <a:off x="6711696" y="10972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future 4 circle"/>
          <p:cNvSpPr/>
          <p:nvPr/>
        </p:nvSpPr>
        <p:spPr>
          <a:xfrm>
            <a:off x="6848856" y="1234440"/>
            <a:ext cx="411480" cy="41148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future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1726" y="1337310"/>
            <a:ext cx="205740" cy="2057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48856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Supplier risk score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848856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Combine rating, delay rate and procurement time.</a:t>
            </a:r>
            <a:endParaRPr lang="en-US" sz="1100" dirty="0"/>
          </a:p>
        </p:txBody>
      </p:sp>
      <p:sp>
        <p:nvSpPr>
          <p:cNvPr id="23" name="future card 5"/>
          <p:cNvSpPr/>
          <p:nvPr/>
        </p:nvSpPr>
        <p:spPr>
          <a:xfrm>
            <a:off x="457200" y="288036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future 5 circle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future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" y="3120390"/>
            <a:ext cx="205740" cy="2057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94360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Carrier optimisation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Compare carriers, modes and distances to plan.</a:t>
            </a:r>
            <a:endParaRPr lang="en-US" sz="1100" dirty="0"/>
          </a:p>
        </p:txBody>
      </p:sp>
      <p:sp>
        <p:nvSpPr>
          <p:cNvPr id="28" name="future card 6"/>
          <p:cNvSpPr/>
          <p:nvPr/>
        </p:nvSpPr>
        <p:spPr>
          <a:xfrm>
            <a:off x="2542032" y="288036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future 6 circle"/>
          <p:cNvSpPr/>
          <p:nvPr/>
        </p:nvSpPr>
        <p:spPr>
          <a:xfrm>
            <a:off x="2679192" y="3017520"/>
            <a:ext cx="411480" cy="41148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future 6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2062" y="3120390"/>
            <a:ext cx="205740" cy="2057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679192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What-if scenarios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79192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Simulate fewer procurement days or stockouts.</a:t>
            </a:r>
            <a:endParaRPr lang="en-US" sz="1100" dirty="0"/>
          </a:p>
        </p:txBody>
      </p:sp>
      <p:sp>
        <p:nvSpPr>
          <p:cNvPr id="33" name="future card 7"/>
          <p:cNvSpPr/>
          <p:nvPr/>
        </p:nvSpPr>
        <p:spPr>
          <a:xfrm>
            <a:off x="4626864" y="288036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future 7 circle"/>
          <p:cNvSpPr/>
          <p:nvPr/>
        </p:nvSpPr>
        <p:spPr>
          <a:xfrm>
            <a:off x="4764024" y="3017520"/>
            <a:ext cx="411480" cy="411480"/>
          </a:xfrm>
          <a:prstGeom prst="ellipse">
            <a:avLst/>
          </a:prstGeom>
          <a:solidFill>
            <a:srgbClr val="15374D"/>
          </a:solidFill>
          <a:ln w="12700">
            <a:solidFill>
              <a:srgbClr val="153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future 7 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6894" y="3120390"/>
            <a:ext cx="205740" cy="2057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764024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Root-cause visuals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764024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Key Influencers and Decomposition Tree.</a:t>
            </a:r>
            <a:endParaRPr lang="en-US" sz="1100" dirty="0"/>
          </a:p>
        </p:txBody>
      </p:sp>
      <p:sp>
        <p:nvSpPr>
          <p:cNvPr id="38" name="future card 8"/>
          <p:cNvSpPr/>
          <p:nvPr/>
        </p:nvSpPr>
        <p:spPr>
          <a:xfrm>
            <a:off x="6711696" y="288036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5E9"/>
            </a:solidFill>
            <a:prstDash val="solid"/>
          </a:ln>
          <a:effectLst>
            <a:outerShdw blurRad="76200" dist="1905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future 8 circle"/>
          <p:cNvSpPr/>
          <p:nvPr/>
        </p:nvSpPr>
        <p:spPr>
          <a:xfrm>
            <a:off x="6848856" y="3017520"/>
            <a:ext cx="411480" cy="411480"/>
          </a:xfrm>
          <a:prstGeom prst="ellipse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future 8 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1726" y="3120390"/>
            <a:ext cx="205740" cy="20574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48856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Role-based and mobile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6848856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Row-level security by region, mobile layouts.</a:t>
            </a: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xora logo" descr="Nexora Supply Chain Intelligenc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822960"/>
            <a:ext cx="1463040" cy="10789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057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accent2"/>
                </a:solidFill>
              </a:rPr>
              <a:t>Questions and discussion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5"/>
                </a:solidFill>
              </a:rPr>
              <a:t>Divyaa Shri B  |  NoviTech R&amp;D Pvt Ltd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ora Supply Chain">
  <a:themeElements>
    <a:clrScheme name="Nexora Supply Chain">
      <a:dk1>
        <a:srgbClr val="1F2A37"/>
      </a:dk1>
      <a:lt1>
        <a:srgbClr val="FFFFFF"/>
      </a:lt1>
      <a:dk2>
        <a:srgbClr val="15374D"/>
      </a:dk2>
      <a:lt2>
        <a:srgbClr val="EEF4F6"/>
      </a:lt2>
      <a:accent1>
        <a:srgbClr val="12A39A"/>
      </a:accent1>
      <a:accent2>
        <a:srgbClr val="F2B24A"/>
      </a:accent2>
      <a:accent3>
        <a:srgbClr val="5B7A8C"/>
      </a:accent3>
      <a:accent4>
        <a:srgbClr val="E4572E"/>
      </a:accent4>
      <a:accent5>
        <a:srgbClr val="8FD3CE"/>
      </a:accent5>
      <a:accent6>
        <a:srgbClr val="0E6F6A"/>
      </a:accent6>
      <a:hlink>
        <a:srgbClr val="12A39A"/>
      </a:hlink>
      <a:folHlink>
        <a:srgbClr val="5B7A8C"/>
      </a:folHlink>
    </a:clrScheme>
    <a:fontScheme name="Nexora Supply Cha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2266</Words>
  <Application>Microsoft Office PowerPoint</Application>
  <PresentationFormat>On-screen Show (16:9)</PresentationFormat>
  <Paragraphs>385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Cambria</vt:lpstr>
      <vt:lpstr>Courier New</vt:lpstr>
      <vt:lpstr>Nexora Supply Chain</vt:lpstr>
      <vt:lpstr>PowerPoint Presentation</vt:lpstr>
      <vt:lpstr>Problem statement</vt:lpstr>
      <vt:lpstr>Objective</vt:lpstr>
      <vt:lpstr>Business understanding</vt:lpstr>
      <vt:lpstr>Methodology: six phases, raw data to insight</vt:lpstr>
      <vt:lpstr>Data collection and understanding</vt:lpstr>
      <vt:lpstr>Cleaning and feature engineering in Python</vt:lpstr>
      <vt:lpstr>Data modelling: star schema and DAX</vt:lpstr>
      <vt:lpstr>Dashboard development: a guided journey</vt:lpstr>
      <vt:lpstr>Executive Overview</vt:lpstr>
      <vt:lpstr>Delay and bottleneck analysis</vt:lpstr>
      <vt:lpstr>Supplier and logistics analysis</vt:lpstr>
      <vt:lpstr>Inventory analysis and order drill-down</vt:lpstr>
      <vt:lpstr>Key findings: four numbers that matter</vt:lpstr>
      <vt:lpstr>Where delays originate</vt:lpstr>
      <vt:lpstr>External risk and inventory effects</vt:lpstr>
      <vt:lpstr>Recommended actions</vt:lpstr>
      <vt:lpstr>Conclusion</vt:lpstr>
      <vt:lpstr>Future scope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Delay Analysis</dc:title>
  <dc:subject>PptxGenJS Presentation</dc:subject>
  <dc:creator>Divyaa Shri B</dc:creator>
  <cp:lastModifiedBy>S0288236</cp:lastModifiedBy>
  <cp:revision>4</cp:revision>
  <dcterms:created xsi:type="dcterms:W3CDTF">2026-10-15T05:16:30Z</dcterms:created>
  <dcterms:modified xsi:type="dcterms:W3CDTF">2026-10-21T09:29:43Z</dcterms:modified>
</cp:coreProperties>
</file>